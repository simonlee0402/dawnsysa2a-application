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4FD1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DECK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DawnSys 融资方案与路演简报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204293"/>
            <a:ext cx="5036576" cy="86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Dawn 定义为“智能眼镜时代的本地 Agent Runtime 与企业边缘执行层”，而不是先做重资产硬件公司。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81000" y="3301157"/>
            <a:ext cx="5036576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800"/>
              </a:spcAft>
              <a:buNone/>
            </a:pPr>
            <a:r>
              <a:rPr lang="en-US" sz="11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推荐以软件优先和合作硬件优先路线融资，用 18 至 24 个月验证企业场景、边缘模型路由、行业化交付与经常性收入。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471220" y="1986707"/>
            <a:ext cx="3291780" cy="1046559"/>
          </a:xfrm>
          <a:prstGeom prst="roundRect">
            <a:avLst>
              <a:gd name="adj" fmla="val 12135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58445" y="2148632"/>
            <a:ext cx="29756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RAISE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58445" y="2323207"/>
            <a:ext cx="2975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7D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20m-25m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658445" y="2691408"/>
            <a:ext cx="297567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/ Pre-A Bridge，目标稀释 12%-18%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71220" y="3160216"/>
            <a:ext cx="3291780" cy="858292"/>
          </a:xfrm>
          <a:prstGeom prst="roundRect">
            <a:avLst>
              <a:gd name="adj" fmla="val 14797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58445" y="3322141"/>
            <a:ext cx="29756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BET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658445" y="3496717"/>
            <a:ext cx="297567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本地优先运行时 + 多模型路由 + 审批治理 + 行业 skills + 中国企业协同渠道集成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working draft | 2026-04-04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投资摘要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2709416" cy="1218158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2381664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是本地 Agent Runtime，不是聊天 UI。它统一承接任务、模型、skills、审批、回写与边缘节点执行。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17366" y="1230064"/>
            <a:ext cx="2709416" cy="1218158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4592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404592" y="1566565"/>
            <a:ext cx="238166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与 Android XR 把“本地多模态 agent + 智能眼镜”从概念推进到产品窗口期，市场正从硬件尝鲜进入场景验证。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53733" y="1230064"/>
            <a:ext cx="2709416" cy="1218158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0959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RAISE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240959" y="1566565"/>
            <a:ext cx="2381664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先做软件与合作硬件绑定，不做自有量产硬件。用较轻资本密度换更高平台价值和更清晰 PMF。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2549723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2689324"/>
            <a:ext cx="4114800" cy="1544985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8226" y="285124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ASSETS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68226" y="3025825"/>
            <a:ext cx="3740348" cy="97035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本地优先 dawn_core + dawn_node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Gemma4 / Ollama 已打通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 skills、Agent Card、Marketplace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审批门禁与人在环治理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4648200" y="2689324"/>
            <a:ext cx="4114800" cy="1544985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5426" y="285124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ASK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4835426" y="3025825"/>
            <a:ext cx="3740348" cy="97035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Android / AI Edge 正式连接器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拿下 3-5 个付费试点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 2 个以上可复制行业包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为下一轮融资建立收入与伙伴基础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base: project docs, Android Developers, Google Developers Blog, IDC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技术与市场窗口正在重叠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2.46m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8226" y="1760190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 披露 2025 年中国智能眼镜出货量，同比增长 87.1%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17366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4592" y="1391989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14.77m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04592" y="1760190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 披露 2025 年全球智能眼镜出货量，同比增长 44.2%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53733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0959" y="1391989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40959" y="1760190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 披露 2025 年中国市场支持大模型语音助手的产品比例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2576066"/>
            <a:ext cx="4114800" cy="1578025"/>
          </a:xfrm>
          <a:prstGeom prst="roundRect">
            <a:avLst>
              <a:gd name="adj" fmla="val 8048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73799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SIGNAL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68226" y="2912566"/>
            <a:ext cx="3740348" cy="100339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2026-04-02：Google 宣布 Gemma 4 可通过 Android AICore 与 Google AI Edge 运行在 mobile、desktop 和 edge devices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LiteRT-LM 已给出边缘平台性能边界，说明 edge agent 正在走出 demo 阶段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648200" y="2576066"/>
            <a:ext cx="4114800" cy="1578025"/>
          </a:xfrm>
          <a:prstGeom prst="roundRect">
            <a:avLst>
              <a:gd name="adj" fmla="val 8048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5426" y="273799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SIGNAL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35426" y="2912566"/>
            <a:ext cx="3740348" cy="81795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XR 已提供 AI glasses 的 projected context、硬件访问与设计规范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生态仍早，分发与产品形态仍在演进，基础设施型切入更有利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IDC blog dated 2026-03-26; Android Developers pages updated 2026-01-07 and 2026-03-31; Google Developers Blog 2026-04-02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当前市场缺的不是“会说话的眼镜”，而是“可执行、可治理、可本地部署的边缘智能体系统”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571327"/>
            <a:ext cx="4114800" cy="2120354"/>
          </a:xfrm>
          <a:prstGeom prst="roundRect">
            <a:avLst>
              <a:gd name="adj" fmla="val 599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73325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市场痛点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926878"/>
            <a:ext cx="3740348" cy="152667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 AI 眼镜只做到语音问答、翻译和拍照识别，无法闭环到任务与流程执行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企业场景需要审批、审计、权限、日志和本地化，而不是纯消费级体验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模型与硬件路线碎片化，客户不愿被单一模型或单一眼镜品牌锁死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中国企业协同环境要求本地渠道集成与本地部署能力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4648200" y="1571327"/>
            <a:ext cx="4114800" cy="2120354"/>
          </a:xfrm>
          <a:prstGeom prst="roundRect">
            <a:avLst>
              <a:gd name="adj" fmla="val 599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5426" y="173325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的切入点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835426" y="1926878"/>
            <a:ext cx="3740348" cy="13412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把智能眼镜定义为一个新的边缘终端，而不是单独产品线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把本地模型、云模型、skills、审批和设备管理放在统一运行时里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让眼镜承担感知和交互，把手机或边缘节点承担执行与路由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优先服务巡检、外勤、企业协同和流程触发型场景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381000" y="4746575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implication: 软件与运行时层的价值密度高于单点硬件特性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的产品形态：本地优先 Agent Runtime + 智能眼镜边缘执行层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571327"/>
            <a:ext cx="3456384" cy="1197322"/>
          </a:xfrm>
          <a:prstGeom prst="roundRect">
            <a:avLst>
              <a:gd name="adj" fmla="val 1060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733252"/>
            <a:ext cx="31435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STATEMENT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907828"/>
            <a:ext cx="3143571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800"/>
              </a:spcAft>
              <a:buNone/>
            </a:pPr>
            <a:r>
              <a:rPr lang="en-US" sz="11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统一处理任务接入、模型路由、skills、审批与回写，是可跨桌面、手机、眼镜和边缘终端复用的执行系统。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81000" y="2895600"/>
            <a:ext cx="3456384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3057525"/>
            <a:ext cx="31435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68226" y="3232100"/>
            <a:ext cx="314357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已具备本地运行主线、Gemma4/Ollama、原生 skills、Marketplace、审批与中国本地渠道基础。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89784" y="1571327"/>
            <a:ext cx="4773216" cy="759321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89784" y="1599902"/>
            <a:ext cx="4773216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58237" y="1571327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89784" y="2325886"/>
            <a:ext cx="477321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4547" y="1571327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1709" y="1755428"/>
            <a:ext cx="4538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眼镜端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151709" y="2031653"/>
            <a:ext cx="453835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负责采集、显示、语音与轻量确认，不背负重型推理。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3989784" y="2457599"/>
            <a:ext cx="4773216" cy="759321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89784" y="2486174"/>
            <a:ext cx="4773216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8237" y="2457599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9784" y="3212157"/>
            <a:ext cx="477321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94547" y="2457599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709" y="2641699"/>
            <a:ext cx="4538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手机 / 边缘节点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151709" y="2917924"/>
            <a:ext cx="453835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负责本地模型、上下文、skills 调度、媒体预处理与日志审计。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3989784" y="3343870"/>
            <a:ext cx="4773216" cy="740271"/>
          </a:xfrm>
          <a:prstGeom prst="roundRect">
            <a:avLst>
              <a:gd name="adj" fmla="val 17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989784" y="3372445"/>
            <a:ext cx="4773216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8237" y="3343870"/>
            <a:ext cx="0" cy="74027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89784" y="4079379"/>
            <a:ext cx="477321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94547" y="3343870"/>
            <a:ext cx="0" cy="74027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51709" y="3527971"/>
            <a:ext cx="45383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Dawn Gateway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4151709" y="3785146"/>
            <a:ext cx="453835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负责长任务、多 Agent 编排、Marketplace 与管理控制面。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3989784" y="4211092"/>
            <a:ext cx="4773216" cy="759321"/>
          </a:xfrm>
          <a:prstGeom prst="roundRect">
            <a:avLst>
              <a:gd name="adj" fmla="val 167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89784" y="4239667"/>
            <a:ext cx="4773216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58237" y="4211092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89784" y="4965650"/>
            <a:ext cx="477321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94547" y="4211092"/>
            <a:ext cx="0" cy="759321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51709" y="4395192"/>
            <a:ext cx="4538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可选云端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4151709" y="4671417"/>
            <a:ext cx="453835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只在本地算力不足或需要外部系统协同时补位。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381000" y="4970413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choice: split-compute &gt; self-contained heavy glasses in the current stage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RUNTIME, NOT WRAPPER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很多项目封装模型，Dawn 封装的是执行系统本身，可以把输入、模型、技能、审批和结果回写串成同一条链。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48200" y="1230064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54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LOCAL-FIRST EDGE MOAT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835426" y="1566565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本地节点、Gemma4、本地审批与边缘运行时，为弱网、隐私和企业部署提供现实优势。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240756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240268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ENTERPRISE GOVERNANCE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68226" y="2577257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审批门禁、日志与可审计链路，是企业端愿意付费也难以临时补上的能力。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2240756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5426" y="240268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CHINA INTEGRATION EDGE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835426" y="2577257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QQ、飞书、钉钉、微信公众号等链路基础，利于切入本地企业协同和本地工作流。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3200549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1000" y="3340150"/>
            <a:ext cx="8382000" cy="678359"/>
          </a:xfrm>
          <a:prstGeom prst="roundRect">
            <a:avLst>
              <a:gd name="adj" fmla="val 18722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8226" y="3502075"/>
            <a:ext cx="8167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68226" y="3676650"/>
            <a:ext cx="816769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不是与眼镜硬件厂商正面竞争，而是成为硬件厂商、系统方和企业客户之间的“可执行 AI 操作层”。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logic should follow enterprise AI infra / edge runtime, not consumer hardware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商业模式：先做高价值企业软件，再决定是否延展硬件控制权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4114800" cy="1544985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3740348" cy="7087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制造、巡检、外勤与运维团队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企业协同、会议、知识助手与审批场景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缺乏企业软件层的智能眼镜或边缘硬件伙伴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4648200" y="1230064"/>
            <a:ext cx="4114800" cy="1544985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54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835426" y="1566565"/>
            <a:ext cx="3740348" cy="97035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平台订阅：RMB 150k-300k / 年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行业技能包：RMB 80k-250k / 年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部署与集成：RMB 100k-800k / 项目</a:t>
            </a:r>
            <a:endParaRPr lang="en-US" sz="1090" dirty="0"/>
          </a:p>
          <a:p>
            <a:pPr algn="l" marL="114300" indent="-114300">
              <a:lnSpc>
                <a:spcPts val="1461"/>
              </a:lnSpc>
              <a:spcAft>
                <a:spcPts val="600"/>
              </a:spcAft>
              <a:buSzPct val="100000"/>
              <a:buChar char="•"/>
            </a:pPr>
            <a:r>
              <a:rPr lang="en-US" sz="109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私有化与治理模块：RMB 100k-500k / 年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381000" y="2876550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3016151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8226" y="3178076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568226" y="3352651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硬件收入不是主逻辑，最多作为 pass-through 或合作分成。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7366" y="3016151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4592" y="3178076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404592" y="3352651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收入结构尽快从项目制走向订阅制与标准行业包。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53733" y="3016151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0959" y="3178076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3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240959" y="3352651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PMF 明确前，不做大额库存和自有量产硬件投入。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pricing bands are internal planning assumptions, not signed customer commitments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经营路径：从付费试点走向可复制 ARR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2709416" cy="1226493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3m-5m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8226" y="193476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个付费客户；收入以 pilot 和交付为主；经常性收入占比 35%-45%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17366" y="1230064"/>
            <a:ext cx="2709416" cy="1226493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4592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3404592" y="1566565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12m-18m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404592" y="193476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个付费客户；标准行业包开始复制；经常性收入占比 55%-65%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53733" y="1230064"/>
            <a:ext cx="2709416" cy="1226493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959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240959" y="1566565"/>
            <a:ext cx="2381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35m-50m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240959" y="193476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 个付费客户；续费和伙伴渠道发力；经常性收入占比 70%-80%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2634258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796183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PATH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68226" y="2970758"/>
            <a:ext cx="381515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2026E: 60%-68% → 2027E: 70%-75% → 2028E: 75%-80%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8200" y="2634258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35426" y="2796183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835426" y="2970758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复制行业 skills、减少高定制化、提高订阅占比，并通过硬件伙伴降低前线交付复杂度。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planning scenario; not audited forecast or booked revenue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PLAN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推荐融资结构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4114800" cy="1046559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ROUND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38151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20m-25m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8226" y="1934766"/>
            <a:ext cx="381515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/ Pre-A Bridge；目标换取 18-24 个月 runway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48200" y="1230064"/>
            <a:ext cx="4114800" cy="1046559"/>
          </a:xfrm>
          <a:prstGeom prst="roundRect">
            <a:avLst>
              <a:gd name="adj" fmla="val 12135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54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DILUTION / INSTRUMENT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35426" y="1566565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目标稀释 12%-18%；可根据阶段选择 SAFE、可转优先或直接股权轮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2378125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2517725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226" y="2679650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68226" y="285422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核心研发：边缘连接器、模型路由、行业 skills、治理能力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17366" y="2517725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04592" y="2679650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404592" y="285422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产品化与交付：眼镜端参考体验、部署工具、日志运维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53733" y="2517725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0959" y="2679650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+ 15% + 10%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240959" y="2854226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设计伙伴 / 试点、销售与生态合作、安全合规与运营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000" y="3787527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1000" y="3927128"/>
            <a:ext cx="8382000" cy="678359"/>
          </a:xfrm>
          <a:prstGeom prst="roundRect">
            <a:avLst>
              <a:gd name="adj" fmla="val 18722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4089053"/>
            <a:ext cx="8167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FUND WITH THIS ROUND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68226" y="4263628"/>
            <a:ext cx="816769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不建议本轮承担大额硬件库存、模具、供应链预付款或自建量产硬件 CAPEX。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investor mix: strategic + enterprise software + AI/edge technology capital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个月里程碑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2726382" cy="1084362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258639"/>
            <a:ext cx="2726382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2620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0" y="2309664"/>
            <a:ext cx="2726382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763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925" y="1414165"/>
            <a:ext cx="24505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 个月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42925" y="1690390"/>
            <a:ext cx="245058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完成产品化 PoC，形成眼镜参考交互、手机 / 边缘节点执行层，以及至少一条 Android / AI Edge 正式连接器路线。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3208883" y="1230064"/>
            <a:ext cx="2726382" cy="1084362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8883" y="1258639"/>
            <a:ext cx="2726382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30503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8883" y="2309664"/>
            <a:ext cx="2726382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3646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0808" y="1414165"/>
            <a:ext cx="24505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个月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370808" y="1690390"/>
            <a:ext cx="245058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拿下 3-5 个付费试点，验证客户确实愿意为本地运行、治理与行业化能力买单。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6036766" y="1230064"/>
            <a:ext cx="2726382" cy="1084362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36766" y="1258639"/>
            <a:ext cx="2726382" cy="0"/>
          </a:xfrm>
          <a:prstGeom prst="line">
            <a:avLst/>
          </a:prstGeom>
          <a:noFill/>
          <a:ln w="57150">
            <a:solidFill>
              <a:srgbClr val="0F4C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386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6766" y="2309664"/>
            <a:ext cx="2726382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1529" y="1230064"/>
            <a:ext cx="0" cy="1084362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8691" y="1414165"/>
            <a:ext cx="24505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2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个月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198691" y="1690390"/>
            <a:ext cx="245058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7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 2 个以上标准行业包，并形成至少 2 家硬件或平台深度合作关系，为下一轮融资建立抓手。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381000" y="2415927"/>
            <a:ext cx="8382000" cy="12650"/>
          </a:xfrm>
          <a:prstGeom prst="rect">
            <a:avLst/>
          </a:prstGeom>
          <a:solidFill>
            <a:srgbClr val="D7E2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1000" y="2555528"/>
            <a:ext cx="8382000" cy="678359"/>
          </a:xfrm>
          <a:prstGeom prst="roundRect">
            <a:avLst>
              <a:gd name="adj" fmla="val 18722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8226" y="2717453"/>
            <a:ext cx="8167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 TRIGGER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68226" y="2892028"/>
            <a:ext cx="816769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标杆客户、可复制经常性收入、行业包标准化、合作伙伴认证齐备之后，再考虑 Pre-A / A 轮放大。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discipline matters more than headline valuation at this stage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关键风险与对冲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1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381515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过早做自有硬件，拉高 burn rate，削弱软件平台叙事。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48200" y="1230064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5426" y="1391989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835426" y="1566565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坚持合作硬件和 reference design，先验证软件闭环和行业价值。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240756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240268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2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68226" y="2577257"/>
            <a:ext cx="381515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项目沦为高定制化服务公司，经常性收入起不来。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2240756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5426" y="2402681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835426" y="2577257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把巡检、外勤、会议、审批等场景做成标准技能包和可复用模板。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3251448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3413373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68226" y="3587948"/>
            <a:ext cx="3815155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技术路线碎片化，项目被单一模型或单一硬件绑死。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8200" y="3251448"/>
            <a:ext cx="4114800" cy="858292"/>
          </a:xfrm>
          <a:prstGeom prst="roundRect">
            <a:avLst>
              <a:gd name="adj" fmla="val 14797"/>
            </a:avLst>
          </a:prstGeom>
          <a:solidFill>
            <a:srgbClr val="FFFFFF"/>
          </a:solidFill>
          <a:ln w="9525">
            <a:solidFill>
              <a:srgbClr val="D7E2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35426" y="3413373"/>
            <a:ext cx="38151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835426" y="3587948"/>
            <a:ext cx="3815155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所有调用必须经由统一的模型连接器与 dawn-model-router 策略层。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E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strategic mistake would be to finance hardware ambition before software PMF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3150"/>
          </a:xfrm>
          <a:prstGeom prst="rect">
            <a:avLst/>
          </a:prstGeom>
          <a:solidFill>
            <a:srgbClr val="4FD1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8549640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POSITIONING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8226" y="1566565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 应被定义为企业级本地智能体运行时与智能眼镜边缘执行层。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17366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4592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CAPITAL STRATEGY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404592" y="1566565"/>
            <a:ext cx="238166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本轮融资应当克制、软件优先、合作硬件优先，避免过早进入重资产路线。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53733" y="1230064"/>
            <a:ext cx="2709416" cy="1168301"/>
          </a:xfrm>
          <a:prstGeom prst="roundRect">
            <a:avLst>
              <a:gd name="adj" fmla="val 10870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0959" y="1391989"/>
            <a:ext cx="23816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VALUE CREATION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240959" y="1566565"/>
            <a:ext cx="2381664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 12-18 个月内证明行业复制与 ARR，项目将从技术 demo 升级为平台型基础设施故事。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2499866"/>
            <a:ext cx="8382000" cy="12650"/>
          </a:xfrm>
          <a:prstGeom prst="rect">
            <a:avLst/>
          </a:prstGeom>
          <a:solidFill>
            <a:srgbClr val="284B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2639467"/>
            <a:ext cx="8382000" cy="998190"/>
          </a:xfrm>
          <a:prstGeom prst="roundRect">
            <a:avLst>
              <a:gd name="adj" fmla="val 12723"/>
            </a:avLst>
          </a:prstGeom>
          <a:solidFill>
            <a:srgbClr val="13293D"/>
          </a:solidFill>
          <a:ln w="9525">
            <a:solidFill>
              <a:srgbClr val="284B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8226" y="2801392"/>
            <a:ext cx="8167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7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ASK TO INVESTORS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68226" y="2975967"/>
            <a:ext cx="8167699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spcAft>
                <a:spcPts val="800"/>
              </a:spcAft>
              <a:buNone/>
            </a:pPr>
            <a:r>
              <a:rPr lang="en-US" sz="11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Dawn 用一轮人民币 2000 万至 2500 万的融资，完成产品标准化、设计伙伴验证、行业技能包沉淀和下一轮融资触发条件的建立。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81000" y="477515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DawnSys | Local-first agent runtime for the smart-glasses era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DawnSys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DawnSys 融资方案与路演简报</dc:title>
  <dc:subject>Fundraising deck</dc:subject>
  <dc:creator>Codex</dc:creator>
  <cp:lastModifiedBy>Codex</cp:lastModifiedBy>
  <cp:revision>1</cp:revision>
  <dcterms:created xsi:type="dcterms:W3CDTF">2026-04-04T05:03:07Z</dcterms:created>
  <dcterms:modified xsi:type="dcterms:W3CDTF">2026-04-04T05:03:07Z</dcterms:modified>
</cp:coreProperties>
</file>